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A16D6E-FF1E-4D0B-803D-67B04DD68C52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5046F47-2BBF-41D5-90E0-2B177A03A8E9}">
      <dgm:prSet/>
      <dgm:spPr/>
      <dgm:t>
        <a:bodyPr/>
        <a:lstStyle/>
        <a:p>
          <a:r>
            <a:rPr lang="en-US"/>
            <a:t>DR Warnasooriya    - D/BIT/24/0062</a:t>
          </a:r>
        </a:p>
      </dgm:t>
    </dgm:pt>
    <dgm:pt modelId="{F468BBA1-30B1-44FB-8264-9455CD08F0E1}" type="parTrans" cxnId="{95E06C6E-FC50-43B4-ACA8-54F6C943A156}">
      <dgm:prSet/>
      <dgm:spPr/>
      <dgm:t>
        <a:bodyPr/>
        <a:lstStyle/>
        <a:p>
          <a:endParaRPr lang="en-US"/>
        </a:p>
      </dgm:t>
    </dgm:pt>
    <dgm:pt modelId="{3721775F-E0F9-49B0-856B-FC1F29B4B9C8}" type="sibTrans" cxnId="{95E06C6E-FC50-43B4-ACA8-54F6C943A156}">
      <dgm:prSet/>
      <dgm:spPr/>
      <dgm:t>
        <a:bodyPr/>
        <a:lstStyle/>
        <a:p>
          <a:endParaRPr lang="en-US"/>
        </a:p>
      </dgm:t>
    </dgm:pt>
    <dgm:pt modelId="{B8996E2D-D0AC-4822-92AC-85D156931826}">
      <dgm:prSet/>
      <dgm:spPr/>
      <dgm:t>
        <a:bodyPr/>
        <a:lstStyle/>
        <a:p>
          <a:r>
            <a:rPr lang="en-US"/>
            <a:t>SHRU De Silva        - D/BIT/24/0080</a:t>
          </a:r>
        </a:p>
      </dgm:t>
    </dgm:pt>
    <dgm:pt modelId="{73F88A28-B919-4742-897B-10DFB088A07D}" type="parTrans" cxnId="{F3037778-01D2-49B1-944A-20202C74A771}">
      <dgm:prSet/>
      <dgm:spPr/>
      <dgm:t>
        <a:bodyPr/>
        <a:lstStyle/>
        <a:p>
          <a:endParaRPr lang="en-US"/>
        </a:p>
      </dgm:t>
    </dgm:pt>
    <dgm:pt modelId="{0BEFBB2C-34E8-481E-9750-EBC0F0EE8D10}" type="sibTrans" cxnId="{F3037778-01D2-49B1-944A-20202C74A771}">
      <dgm:prSet/>
      <dgm:spPr/>
      <dgm:t>
        <a:bodyPr/>
        <a:lstStyle/>
        <a:p>
          <a:endParaRPr lang="en-US"/>
        </a:p>
      </dgm:t>
    </dgm:pt>
    <dgm:pt modelId="{07505344-5566-4650-87E4-249E8A8B85AE}">
      <dgm:prSet/>
      <dgm:spPr/>
      <dgm:t>
        <a:bodyPr/>
        <a:lstStyle/>
        <a:p>
          <a:r>
            <a:rPr lang="en-US"/>
            <a:t>SHSA Fernando   - D/COE/25/0017</a:t>
          </a:r>
        </a:p>
      </dgm:t>
    </dgm:pt>
    <dgm:pt modelId="{A1A8DDF6-79CB-4472-8BB8-91BBDA22A62D}" type="parTrans" cxnId="{0CD66486-D7BF-4437-A504-08CBCA046C01}">
      <dgm:prSet/>
      <dgm:spPr/>
      <dgm:t>
        <a:bodyPr/>
        <a:lstStyle/>
        <a:p>
          <a:endParaRPr lang="en-US"/>
        </a:p>
      </dgm:t>
    </dgm:pt>
    <dgm:pt modelId="{C6976B09-9303-4898-BE1C-10B1306686BD}" type="sibTrans" cxnId="{0CD66486-D7BF-4437-A504-08CBCA046C01}">
      <dgm:prSet/>
      <dgm:spPr/>
      <dgm:t>
        <a:bodyPr/>
        <a:lstStyle/>
        <a:p>
          <a:endParaRPr lang="en-US"/>
        </a:p>
      </dgm:t>
    </dgm:pt>
    <dgm:pt modelId="{8EA18B64-C013-4B0F-AA9C-BA4FE493F8E0}">
      <dgm:prSet/>
      <dgm:spPr/>
      <dgm:t>
        <a:bodyPr/>
        <a:lstStyle/>
        <a:p>
          <a:r>
            <a:rPr lang="en-US"/>
            <a:t>KPP Pavidura      - D/DBA/25/0027</a:t>
          </a:r>
        </a:p>
      </dgm:t>
    </dgm:pt>
    <dgm:pt modelId="{4A7E8764-2F8E-4529-86BB-BDC38C9E807F}" type="parTrans" cxnId="{28DFDB35-7FA1-4A82-88F1-2E12328B2568}">
      <dgm:prSet/>
      <dgm:spPr/>
      <dgm:t>
        <a:bodyPr/>
        <a:lstStyle/>
        <a:p>
          <a:endParaRPr lang="en-US"/>
        </a:p>
      </dgm:t>
    </dgm:pt>
    <dgm:pt modelId="{4495D676-CCE8-4AA6-9B8C-1FA25E2953D6}" type="sibTrans" cxnId="{28DFDB35-7FA1-4A82-88F1-2E12328B2568}">
      <dgm:prSet/>
      <dgm:spPr/>
      <dgm:t>
        <a:bodyPr/>
        <a:lstStyle/>
        <a:p>
          <a:endParaRPr lang="en-US"/>
        </a:p>
      </dgm:t>
    </dgm:pt>
    <dgm:pt modelId="{605E0DD4-5B5B-4BDB-89EA-50C896474861}" type="pres">
      <dgm:prSet presAssocID="{D9A16D6E-FF1E-4D0B-803D-67B04DD68C52}" presName="linear" presStyleCnt="0">
        <dgm:presLayoutVars>
          <dgm:animLvl val="lvl"/>
          <dgm:resizeHandles val="exact"/>
        </dgm:presLayoutVars>
      </dgm:prSet>
      <dgm:spPr/>
    </dgm:pt>
    <dgm:pt modelId="{03B670DD-256D-4B3C-8A1F-B2F4A216B6DE}" type="pres">
      <dgm:prSet presAssocID="{A5046F47-2BBF-41D5-90E0-2B177A03A8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6E457C-D9EE-45EE-8616-B106748B7108}" type="pres">
      <dgm:prSet presAssocID="{3721775F-E0F9-49B0-856B-FC1F29B4B9C8}" presName="spacer" presStyleCnt="0"/>
      <dgm:spPr/>
    </dgm:pt>
    <dgm:pt modelId="{2ACC4172-2862-4B22-A088-CB86CC774FE6}" type="pres">
      <dgm:prSet presAssocID="{B8996E2D-D0AC-4822-92AC-85D1569318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0270A2-AA8D-4151-945A-68198C7E0AAC}" type="pres">
      <dgm:prSet presAssocID="{0BEFBB2C-34E8-481E-9750-EBC0F0EE8D10}" presName="spacer" presStyleCnt="0"/>
      <dgm:spPr/>
    </dgm:pt>
    <dgm:pt modelId="{88360D2B-A4AE-47FE-A754-0685B3798A94}" type="pres">
      <dgm:prSet presAssocID="{07505344-5566-4650-87E4-249E8A8B85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2BDAEF-BC48-4B9E-9B6E-3385D7BF82AA}" type="pres">
      <dgm:prSet presAssocID="{C6976B09-9303-4898-BE1C-10B1306686BD}" presName="spacer" presStyleCnt="0"/>
      <dgm:spPr/>
    </dgm:pt>
    <dgm:pt modelId="{B0C3B733-1193-4669-9074-8EAE5D916B7F}" type="pres">
      <dgm:prSet presAssocID="{8EA18B64-C013-4B0F-AA9C-BA4FE493F8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FC5211-15AD-49A7-907A-18F82095D4F4}" type="presOf" srcId="{8EA18B64-C013-4B0F-AA9C-BA4FE493F8E0}" destId="{B0C3B733-1193-4669-9074-8EAE5D916B7F}" srcOrd="0" destOrd="0" presId="urn:microsoft.com/office/officeart/2005/8/layout/vList2"/>
    <dgm:cxn modelId="{28DFDB35-7FA1-4A82-88F1-2E12328B2568}" srcId="{D9A16D6E-FF1E-4D0B-803D-67B04DD68C52}" destId="{8EA18B64-C013-4B0F-AA9C-BA4FE493F8E0}" srcOrd="3" destOrd="0" parTransId="{4A7E8764-2F8E-4529-86BB-BDC38C9E807F}" sibTransId="{4495D676-CCE8-4AA6-9B8C-1FA25E2953D6}"/>
    <dgm:cxn modelId="{346C445F-6DC5-436F-9E43-F31DCE1CD704}" type="presOf" srcId="{B8996E2D-D0AC-4822-92AC-85D156931826}" destId="{2ACC4172-2862-4B22-A088-CB86CC774FE6}" srcOrd="0" destOrd="0" presId="urn:microsoft.com/office/officeart/2005/8/layout/vList2"/>
    <dgm:cxn modelId="{95E06C6E-FC50-43B4-ACA8-54F6C943A156}" srcId="{D9A16D6E-FF1E-4D0B-803D-67B04DD68C52}" destId="{A5046F47-2BBF-41D5-90E0-2B177A03A8E9}" srcOrd="0" destOrd="0" parTransId="{F468BBA1-30B1-44FB-8264-9455CD08F0E1}" sibTransId="{3721775F-E0F9-49B0-856B-FC1F29B4B9C8}"/>
    <dgm:cxn modelId="{F3037778-01D2-49B1-944A-20202C74A771}" srcId="{D9A16D6E-FF1E-4D0B-803D-67B04DD68C52}" destId="{B8996E2D-D0AC-4822-92AC-85D156931826}" srcOrd="1" destOrd="0" parTransId="{73F88A28-B919-4742-897B-10DFB088A07D}" sibTransId="{0BEFBB2C-34E8-481E-9750-EBC0F0EE8D10}"/>
    <dgm:cxn modelId="{0CD66486-D7BF-4437-A504-08CBCA046C01}" srcId="{D9A16D6E-FF1E-4D0B-803D-67B04DD68C52}" destId="{07505344-5566-4650-87E4-249E8A8B85AE}" srcOrd="2" destOrd="0" parTransId="{A1A8DDF6-79CB-4472-8BB8-91BBDA22A62D}" sibTransId="{C6976B09-9303-4898-BE1C-10B1306686BD}"/>
    <dgm:cxn modelId="{165E13A6-6B7C-493D-B6A9-405813A400A6}" type="presOf" srcId="{07505344-5566-4650-87E4-249E8A8B85AE}" destId="{88360D2B-A4AE-47FE-A754-0685B3798A94}" srcOrd="0" destOrd="0" presId="urn:microsoft.com/office/officeart/2005/8/layout/vList2"/>
    <dgm:cxn modelId="{6D4721B2-CAE2-4AC9-9C8B-723B030C63A0}" type="presOf" srcId="{A5046F47-2BBF-41D5-90E0-2B177A03A8E9}" destId="{03B670DD-256D-4B3C-8A1F-B2F4A216B6DE}" srcOrd="0" destOrd="0" presId="urn:microsoft.com/office/officeart/2005/8/layout/vList2"/>
    <dgm:cxn modelId="{8847FEFF-E176-4601-A35E-EFAAC0B5DF13}" type="presOf" srcId="{D9A16D6E-FF1E-4D0B-803D-67B04DD68C52}" destId="{605E0DD4-5B5B-4BDB-89EA-50C896474861}" srcOrd="0" destOrd="0" presId="urn:microsoft.com/office/officeart/2005/8/layout/vList2"/>
    <dgm:cxn modelId="{F1A8F145-78D9-43B8-BA64-A72A255E441E}" type="presParOf" srcId="{605E0DD4-5B5B-4BDB-89EA-50C896474861}" destId="{03B670DD-256D-4B3C-8A1F-B2F4A216B6DE}" srcOrd="0" destOrd="0" presId="urn:microsoft.com/office/officeart/2005/8/layout/vList2"/>
    <dgm:cxn modelId="{9C27E968-B272-4567-9AA5-5530BD7C58B7}" type="presParOf" srcId="{605E0DD4-5B5B-4BDB-89EA-50C896474861}" destId="{7F6E457C-D9EE-45EE-8616-B106748B7108}" srcOrd="1" destOrd="0" presId="urn:microsoft.com/office/officeart/2005/8/layout/vList2"/>
    <dgm:cxn modelId="{1B5CF972-90C5-480D-B74C-11F7704DDB5B}" type="presParOf" srcId="{605E0DD4-5B5B-4BDB-89EA-50C896474861}" destId="{2ACC4172-2862-4B22-A088-CB86CC774FE6}" srcOrd="2" destOrd="0" presId="urn:microsoft.com/office/officeart/2005/8/layout/vList2"/>
    <dgm:cxn modelId="{7889D41F-F1B6-4001-A627-1BBC0F1859A8}" type="presParOf" srcId="{605E0DD4-5B5B-4BDB-89EA-50C896474861}" destId="{440270A2-AA8D-4151-945A-68198C7E0AAC}" srcOrd="3" destOrd="0" presId="urn:microsoft.com/office/officeart/2005/8/layout/vList2"/>
    <dgm:cxn modelId="{FC6EBB29-F991-4F2E-AAE8-0175872EB9C5}" type="presParOf" srcId="{605E0DD4-5B5B-4BDB-89EA-50C896474861}" destId="{88360D2B-A4AE-47FE-A754-0685B3798A94}" srcOrd="4" destOrd="0" presId="urn:microsoft.com/office/officeart/2005/8/layout/vList2"/>
    <dgm:cxn modelId="{67AC1BCA-4766-4CAA-BFF5-46759564AFA8}" type="presParOf" srcId="{605E0DD4-5B5B-4BDB-89EA-50C896474861}" destId="{772BDAEF-BC48-4B9E-9B6E-3385D7BF82AA}" srcOrd="5" destOrd="0" presId="urn:microsoft.com/office/officeart/2005/8/layout/vList2"/>
    <dgm:cxn modelId="{E2902D70-39B5-4A24-BC10-BC60FB717F7F}" type="presParOf" srcId="{605E0DD4-5B5B-4BDB-89EA-50C896474861}" destId="{B0C3B733-1193-4669-9074-8EAE5D916B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70DD-256D-4B3C-8A1F-B2F4A216B6DE}">
      <dsp:nvSpPr>
        <dsp:cNvPr id="0" name=""/>
        <dsp:cNvSpPr/>
      </dsp:nvSpPr>
      <dsp:spPr>
        <a:xfrm>
          <a:off x="0" y="37871"/>
          <a:ext cx="10515600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DR Warnasooriya    - D/BIT/24/0062</a:t>
          </a:r>
        </a:p>
      </dsp:txBody>
      <dsp:txXfrm>
        <a:off x="47976" y="85847"/>
        <a:ext cx="10419648" cy="886848"/>
      </dsp:txXfrm>
    </dsp:sp>
    <dsp:sp modelId="{2ACC4172-2862-4B22-A088-CB86CC774FE6}">
      <dsp:nvSpPr>
        <dsp:cNvPr id="0" name=""/>
        <dsp:cNvSpPr/>
      </dsp:nvSpPr>
      <dsp:spPr>
        <a:xfrm>
          <a:off x="0" y="1135871"/>
          <a:ext cx="10515600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SHRU De Silva        - D/BIT/24/0080</a:t>
          </a:r>
        </a:p>
      </dsp:txBody>
      <dsp:txXfrm>
        <a:off x="47976" y="1183847"/>
        <a:ext cx="10419648" cy="886848"/>
      </dsp:txXfrm>
    </dsp:sp>
    <dsp:sp modelId="{88360D2B-A4AE-47FE-A754-0685B3798A94}">
      <dsp:nvSpPr>
        <dsp:cNvPr id="0" name=""/>
        <dsp:cNvSpPr/>
      </dsp:nvSpPr>
      <dsp:spPr>
        <a:xfrm>
          <a:off x="0" y="2233872"/>
          <a:ext cx="10515600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SHSA Fernando   - D/COE/25/0017</a:t>
          </a:r>
        </a:p>
      </dsp:txBody>
      <dsp:txXfrm>
        <a:off x="47976" y="2281848"/>
        <a:ext cx="10419648" cy="886848"/>
      </dsp:txXfrm>
    </dsp:sp>
    <dsp:sp modelId="{B0C3B733-1193-4669-9074-8EAE5D916B7F}">
      <dsp:nvSpPr>
        <dsp:cNvPr id="0" name=""/>
        <dsp:cNvSpPr/>
      </dsp:nvSpPr>
      <dsp:spPr>
        <a:xfrm>
          <a:off x="0" y="3331872"/>
          <a:ext cx="10515600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KPP Pavidura      - D/DBA/25/0027</a:t>
          </a:r>
        </a:p>
      </dsp:txBody>
      <dsp:txXfrm>
        <a:off x="47976" y="3379848"/>
        <a:ext cx="10419648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BD24-4A4A-DC12-9229-BCF7976CE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FD5B9-861B-CBF0-4E35-0737F526D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A44EF-03B9-BB95-4F74-4A47A093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43855-1ACB-76D7-6463-74736615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AC55-0169-58D1-1F03-58C17CFF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0E4E-A7FE-FD14-BA44-A2AC2A89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9A9BE-9A8F-B4D5-71F9-96F777F6F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AEAC-A146-32D1-7599-3CCA9285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4842-AB4E-5EE3-CD2A-A83A738D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6EB2-5E4B-F91E-C79C-8DD67A29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3F9D-7FD4-8CCB-03FB-2CB6972B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69FEC-A99E-0872-94E8-2CFF81BC0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64013-DDB6-009F-C34C-1D4F59DC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CC501-486C-53E4-BD4D-4A1050EC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66A79-9FA5-3F03-6B04-4F8BFCDD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0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6BFD-BED4-A081-659A-902BE1D0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9083-A022-D3CA-1D9A-F054F1439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E097B-821F-9286-5162-05C1C6E15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A42F7-1F43-F9E8-BE74-FF21658E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63BFA-B93A-80D1-64C8-603356C8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8A4FE-F5E6-7C0C-0BF2-BE82A210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5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51DA-6848-28F1-63B4-B4F82039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DFAC4-6CFF-3206-E2BA-9D3B9DDF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6E679-29BD-5A49-FFFB-28D830D6D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1303D-AB6F-D710-7C92-886DC7FCA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421D-D676-6E59-06B7-42E39FCE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F4858-A03E-71B5-AD76-7B51FCDB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65B7E-CA42-EA11-5ACC-47AB3A5F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B8E4D-B070-A103-4107-4B2ECFB5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1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2617-6FD6-1CAB-8823-4B28ED5D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B8AEA-F3E0-7B58-65CD-65430BF8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140CA-7123-EB1F-7E78-5AFB25B9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0D7F2-ED13-9B7F-AB74-7263C9A6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7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8CAE5-9879-1FE1-5C82-C501BDF8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CA066-42AA-B250-065A-331F28F7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0D13B-4CD8-ACBA-08C1-FCEF1D04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2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2047-3770-E8E3-0D69-8E5FA808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F91B-6E72-B002-C6C4-BC0E41B0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EAF8A-8298-5EC8-78B1-6AF2AAE91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AAEC6-BDB7-5F1E-087C-59A57356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9E931-9A7D-E5AA-E18F-88F4C38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EAB75-D5E5-FE0F-D129-C8970177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9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EB61-A627-4632-C9F3-04A6BB9D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B1A5A-DE98-6247-3DBA-C70B72CBE94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5FD60-7675-2A00-C3C6-B9ED8476C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F996D-265F-C6FD-C070-8C819DEB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EF19D-D480-2D9A-4231-5D7DB901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C9611-A0E6-DE3D-0C8B-4E064D83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B20B-8666-FC45-6192-EFED4FD1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D422-8BD4-46E8-6ED3-242FAA6D1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69A8-9E4D-66DA-09DA-1B3F89AD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E26EC-BB06-6465-9DA4-4CC07E3C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B6423-FF9C-7D2B-5FB5-3AB120AA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6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31DECF-41F7-847F-176C-1120C5ADA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A15DC-F7D0-2A3C-F4DE-B9F09A137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28AA3-A5EB-351B-9406-DA1D2678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88CDF-3D8A-3A79-4C12-95144EAE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902D3-0EFA-9CB8-907F-7F9B46B4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0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AFABF-A0E4-6205-CD42-18DBC44C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2F4B4-14A2-0F27-8B44-B4267F73D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C269-22D2-7E2F-3262-63AEB7DCF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11593-A458-4AF3-81FE-BF4753A97426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BD91-711C-A95D-5335-0DCB87DF1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1439-DDB3-5816-D366-28C77F16D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B18FE-0B79-4951-8906-0F97CBF3B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8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8C04E-F356-7527-F706-1D1D29800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081" y="818984"/>
            <a:ext cx="8412480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SmartStudy</a:t>
            </a:r>
            <a:r>
              <a:rPr lang="en-US" sz="4800" dirty="0">
                <a:solidFill>
                  <a:srgbClr val="FFFFFF"/>
                </a:solidFill>
              </a:rPr>
              <a:t> AI: KDU Academic Advisory System for BIT Undergraduates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0E1A4-C0A9-6556-49A5-7A5029C33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938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FD66C-4273-A95A-3C35-23312BB5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15438F-5651-2DF5-0F41-B605951D4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16306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212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C70E9-9A3A-1EBF-A7AD-B244B1F6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628394F-6063-C0D6-5D44-A4488DCB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Technologies</a:t>
            </a:r>
          </a:p>
          <a:p>
            <a:r>
              <a:rPr lang="en-US" dirty="0"/>
              <a:t>AI Techniques</a:t>
            </a:r>
          </a:p>
          <a:p>
            <a:r>
              <a:rPr lang="en-US" dirty="0"/>
              <a:t>Core Tasks Completed</a:t>
            </a:r>
          </a:p>
        </p:txBody>
      </p:sp>
      <p:pic>
        <p:nvPicPr>
          <p:cNvPr id="20" name="Picture 19" descr="Digital financial graph">
            <a:extLst>
              <a:ext uri="{FF2B5EF4-FFF2-40B4-BE49-F238E27FC236}">
                <a16:creationId xmlns:a16="http://schemas.microsoft.com/office/drawing/2014/main" id="{DF73EE2A-4DB6-D945-B6C3-38F119A00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33" r="1414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4342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3AB28-54AB-BB0F-AAD8-4D9F8C77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Introduction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010A-2832-29FB-A1A6-F37C17F4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 err="1"/>
              <a:t>SmartStudy</a:t>
            </a:r>
            <a:r>
              <a:rPr lang="en-US" sz="2200" b="1" dirty="0"/>
              <a:t> AI</a:t>
            </a:r>
            <a:r>
              <a:rPr lang="en-US" sz="2200" dirty="0"/>
              <a:t> is a locally hosted, privacy-preserving academic advisory system designed specifically for KDU Bachelor of Information Technology (BIT) undergraduates.</a:t>
            </a:r>
          </a:p>
          <a:p>
            <a:r>
              <a:rPr lang="en-US" sz="2200" dirty="0"/>
              <a:t>The system utilizes a </a:t>
            </a:r>
            <a:r>
              <a:rPr lang="en-US" sz="2200" b="1" dirty="0"/>
              <a:t>hybrid artificial intelligence architecture</a:t>
            </a:r>
            <a:r>
              <a:rPr lang="en-US" sz="2200" dirty="0"/>
              <a:t>, combining a deterministic heuristic expert system with a local autoregressive Large Language Model (Llama 3.2).</a:t>
            </a:r>
          </a:p>
          <a:p>
            <a:r>
              <a:rPr lang="en-US" sz="2200" dirty="0"/>
              <a:t>It dynamically generates personalized, syllabus-accurate study roadmaps based on a student's target module, remaining exam days, and daily study capacity, exporting the final plan as a structured PDF.</a:t>
            </a:r>
          </a:p>
        </p:txBody>
      </p:sp>
    </p:spTree>
    <p:extLst>
      <p:ext uri="{BB962C8B-B14F-4D97-AF65-F5344CB8AC3E}">
        <p14:creationId xmlns:p14="http://schemas.microsoft.com/office/powerpoint/2010/main" val="59148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A3627-A665-B401-030B-131CA18C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Problem Statement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3C8F9-F96E-C2DC-57C6-A5B247525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500" dirty="0"/>
              <a:t>Academic Overload &amp; Ineffective Planning:</a:t>
            </a:r>
          </a:p>
          <a:p>
            <a:pPr marL="0" indent="0">
              <a:buNone/>
            </a:pPr>
            <a:endParaRPr lang="en-US" sz="1500" dirty="0"/>
          </a:p>
          <a:p>
            <a:pPr lvl="1"/>
            <a:r>
              <a:rPr lang="en-US" sz="1500" dirty="0"/>
              <a:t>Undergraduates must navigate 24 dense, highly technical curriculum modules.</a:t>
            </a:r>
          </a:p>
          <a:p>
            <a:pPr marL="457200" lvl="1" indent="0">
              <a:buNone/>
            </a:pPr>
            <a:endParaRPr lang="en-US" sz="1500" dirty="0"/>
          </a:p>
          <a:p>
            <a:pPr lvl="1"/>
            <a:r>
              <a:rPr lang="en-US" sz="1500" dirty="0"/>
              <a:t>Students struggle to assess their weak areas objectively, leading to unstructured cramming, poor revision sequencing, and acute academic burnout.</a:t>
            </a:r>
          </a:p>
          <a:p>
            <a:pPr marL="0" indent="0">
              <a:buNone/>
            </a:pPr>
            <a:endParaRPr lang="en-US" sz="1500" dirty="0"/>
          </a:p>
          <a:p>
            <a:r>
              <a:rPr lang="en-US" sz="1500" dirty="0"/>
              <a:t>Failure of Generic LLMs (Hallucinations &amp; Flawed Arithmetic):</a:t>
            </a:r>
          </a:p>
          <a:p>
            <a:pPr marL="0" indent="0">
              <a:buNone/>
            </a:pPr>
            <a:endParaRPr lang="en-US" sz="1500" dirty="0"/>
          </a:p>
          <a:p>
            <a:pPr lvl="1"/>
            <a:r>
              <a:rPr lang="en-US" sz="1500" dirty="0"/>
              <a:t>Commercial models (e.g., ChatGPT) have no inherent ground truth for the university's specific module codes, lecture sequences, or exam structures.</a:t>
            </a:r>
          </a:p>
          <a:p>
            <a:pPr marL="457200" lvl="1" indent="0">
              <a:buNone/>
            </a:pPr>
            <a:endParaRPr lang="en-US" sz="1500" dirty="0"/>
          </a:p>
          <a:p>
            <a:pPr lvl="1"/>
            <a:r>
              <a:rPr lang="en-US" sz="1500" dirty="0"/>
              <a:t>LLMs are probabilistic text predictors, not calculation engines; they frequently generate mathematically impossible revision schedules (such as scheduling 40 hours of study across 2 calendar days) without flagging the physical impossibility.</a:t>
            </a:r>
          </a:p>
        </p:txBody>
      </p:sp>
    </p:spTree>
    <p:extLst>
      <p:ext uri="{BB962C8B-B14F-4D97-AF65-F5344CB8AC3E}">
        <p14:creationId xmlns:p14="http://schemas.microsoft.com/office/powerpoint/2010/main" val="133043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D4ECA-A9CE-7DD8-A223-2C0B148F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99C4F-7261-E626-B60E-F2E504F5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Problem Statement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4F03-AC6C-CD97-FFC8-D2A73E6D1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600" dirty="0"/>
              <a:t>Privacy, Latency &amp; Recurring Financial Barriers:</a:t>
            </a:r>
          </a:p>
          <a:p>
            <a:endParaRPr lang="en-US" sz="1500" dirty="0"/>
          </a:p>
          <a:p>
            <a:pPr lvl="1"/>
            <a:r>
              <a:rPr lang="en-US" sz="1600" dirty="0"/>
              <a:t>Cloud-based AI APIs transmit sensitive student academic history, assessment marks, and weaknesses to third-party commercial servers. </a:t>
            </a:r>
            <a:endParaRPr lang="en-US" sz="1500" dirty="0"/>
          </a:p>
          <a:p>
            <a:pPr lvl="1"/>
            <a:r>
              <a:rPr lang="en-US" sz="1600" dirty="0"/>
              <a:t>Proprietary API tokens create recurring financial costs and require uninterrupted, high-speed internet access, preventing equitable, offline-accessible campus deployment.</a:t>
            </a:r>
          </a:p>
          <a:p>
            <a:pPr lvl="1"/>
            <a:endParaRPr lang="en-US" sz="1500" dirty="0"/>
          </a:p>
          <a:p>
            <a:r>
              <a:rPr lang="en-US" sz="1600" dirty="0"/>
              <a:t>Unstructured Output &amp; Lack of Concrete Artifacts:</a:t>
            </a:r>
          </a:p>
          <a:p>
            <a:endParaRPr lang="en-US" sz="1500" dirty="0"/>
          </a:p>
          <a:p>
            <a:pPr lvl="1"/>
            <a:r>
              <a:rPr lang="en-US" sz="1600" dirty="0"/>
              <a:t>Existing generative AI tools return unformatted, conversational text streams rather than deterministic, step-by-step revision milestones or clean, exportable study documents.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3420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04B0E-DE70-D5FF-5847-1F7E196F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Technologies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F6A7-4CAF-BA2D-2B58-43D9861A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b="1"/>
              <a:t>Frontend Interface:</a:t>
            </a:r>
            <a:r>
              <a:rPr lang="en-US" sz="2200"/>
              <a:t> Streamlit (interactive data capture and dashboard rendering).</a:t>
            </a:r>
          </a:p>
          <a:p>
            <a:r>
              <a:rPr lang="en-US" sz="2200" b="1"/>
              <a:t>Inference Backend:</a:t>
            </a:r>
            <a:r>
              <a:rPr lang="en-US" sz="2200"/>
              <a:t> Ollama framework running Meta's Llama 3.2 (3B) model entirely on-device</a:t>
            </a:r>
          </a:p>
          <a:p>
            <a:r>
              <a:rPr lang="en-US" sz="2200" b="1"/>
              <a:t>AI Fine-Tuning:</a:t>
            </a:r>
            <a:r>
              <a:rPr lang="en-US" sz="2200"/>
              <a:t> Parameter-Efficient Fine-Tuning (PEFT) utilizing Low-Rank Adaptation (LoRA).</a:t>
            </a:r>
          </a:p>
          <a:p>
            <a:r>
              <a:rPr lang="en-US" sz="2200" b="1"/>
              <a:t>Data Processing:</a:t>
            </a:r>
            <a:r>
              <a:rPr lang="en-US" sz="2200"/>
              <a:t> Python, Pandas (for synthetic CSV management), and Regular Expressions (Regex) for token sanitization.</a:t>
            </a:r>
          </a:p>
          <a:p>
            <a:r>
              <a:rPr lang="en-US" sz="2200" b="1"/>
              <a:t>Document Export:</a:t>
            </a:r>
            <a:r>
              <a:rPr lang="en-US" sz="2200"/>
              <a:t> fpdf2 engine utilizing a custom-built StudyPlanPDF styling class.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F1B9D483-CF6F-A09E-3D89-80A64A6C1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1" r="23350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6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AC3D6-C25F-749F-5AF7-7EE7B6C5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AI Techniques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8C67B-58CD-25FF-ABB0-81C5BB4F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1700" b="1" dirty="0"/>
              <a:t>Rule-Based Reasoning (Expert Systems):</a:t>
            </a:r>
            <a:r>
              <a:rPr lang="en-US" sz="1700" dirty="0"/>
              <a:t> Applied to the guardrails.py validation layer to automatically detect and block mathematically impossible study hour requests before the AI processes them.</a:t>
            </a:r>
          </a:p>
          <a:p>
            <a:r>
              <a:rPr lang="en-US" sz="1700" b="1" dirty="0"/>
              <a:t>Natural Language Processing (NLP):</a:t>
            </a:r>
            <a:r>
              <a:rPr lang="en-US" sz="1700" dirty="0"/>
              <a:t> Utilized Meta's local Llama 3.2 model to comprehend student constraints and generate personalized, context-aware study roadmaps in natural language.</a:t>
            </a:r>
          </a:p>
          <a:p>
            <a:r>
              <a:rPr lang="en-US" sz="1700" b="1" dirty="0"/>
              <a:t>Knowledge Representation:</a:t>
            </a:r>
            <a:r>
              <a:rPr lang="en-US" sz="1700" dirty="0"/>
              <a:t> Used structured data ontologies to map the 24 specific KDU BIT modules, giving the system a hardcoded, factual understanding of the university syllabus.</a:t>
            </a:r>
          </a:p>
          <a:p>
            <a:r>
              <a:rPr lang="en-US" sz="1700" b="1" dirty="0"/>
              <a:t>Neural Network Fine-Tuning:</a:t>
            </a:r>
            <a:r>
              <a:rPr lang="en-US" sz="1700" dirty="0"/>
              <a:t> Applied Low-Rank Adaptation (</a:t>
            </a:r>
            <a:r>
              <a:rPr lang="en-US" sz="1700" dirty="0" err="1"/>
              <a:t>LoRA</a:t>
            </a:r>
            <a:r>
              <a:rPr lang="en-US" sz="1700" dirty="0"/>
              <a:t>) to train the base language model on KDU-specific academic terminology and strict document formatting.</a:t>
            </a:r>
          </a:p>
          <a:p>
            <a:r>
              <a:rPr lang="en-US" sz="1700" b="1" dirty="0"/>
              <a:t>Stochastic Search &amp; Constrained Decoding:</a:t>
            </a:r>
            <a:r>
              <a:rPr lang="en-US" sz="1700" dirty="0"/>
              <a:t> Applied mathematical limits (like Nucleus Sampling and temperature controls) during text generation to force the AI to produce stable, structured outputs instead of unpredictable conversational loops.</a:t>
            </a:r>
          </a:p>
        </p:txBody>
      </p:sp>
    </p:spTree>
    <p:extLst>
      <p:ext uri="{BB962C8B-B14F-4D97-AF65-F5344CB8AC3E}">
        <p14:creationId xmlns:p14="http://schemas.microsoft.com/office/powerpoint/2010/main" val="96875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21006-4E37-C221-12CD-2F3D9D5B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Core Tasks Completed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F4DC-30F9-1B3E-AC78-A50B5206B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1700" b="1"/>
              <a:t>Curriculum Knowledge Base &amp; Dataset Engineering:</a:t>
            </a:r>
            <a:r>
              <a:rPr lang="en-US" sz="1700"/>
              <a:t> Formulated a structured academic ontology across the 24 KDU BIT modules and programmatically generated synthetic student datasets using Python to simulate realistic study constraints.</a:t>
            </a:r>
          </a:p>
          <a:p>
            <a:r>
              <a:rPr lang="en-US" sz="1700" b="1"/>
              <a:t>Heuristic Safety Guardrail Development:</a:t>
            </a:r>
            <a:r>
              <a:rPr lang="en-US" sz="1700"/>
              <a:t> Engineered a deterministic validation layer that intercepts inputs to calculate daily workloads, blocking biologically unrealistic schedules (e.g., 40 hours in 2 days).</a:t>
            </a:r>
          </a:p>
          <a:p>
            <a:r>
              <a:rPr lang="en-US" sz="1700" b="1"/>
              <a:t>Local LLM Integration &amp; Decoding Optimization:</a:t>
            </a:r>
            <a:r>
              <a:rPr lang="en-US" sz="1700"/>
              <a:t> Configured on-device inference using Llama 3.2 (3B), fine-tuning prompt templates and decoding parameters to suppress hallucinated tokens and infinite repetition cycles. </a:t>
            </a:r>
          </a:p>
          <a:p>
            <a:r>
              <a:rPr lang="en-US" sz="1700" b="1"/>
              <a:t>Frontend Web Dashboard Implementation:</a:t>
            </a:r>
            <a:r>
              <a:rPr lang="en-US" sz="1700"/>
              <a:t> Developed an interactive, dark-themed Streamlit user interface featuring dynamic module pickers, workload sliders, and plan displays.</a:t>
            </a:r>
          </a:p>
          <a:p>
            <a:r>
              <a:rPr lang="en-US" sz="1700" b="1"/>
              <a:t>Text Sanitization &amp; PDF Export Engine:</a:t>
            </a:r>
            <a:r>
              <a:rPr lang="en-US" sz="1700"/>
              <a:t> Built a custom Regular Expression filtering pipeline to strip unescaped HTML and emojis, coupled with an automated </a:t>
            </a:r>
            <a:r>
              <a:rPr lang="en-US" sz="1700" i="1"/>
              <a:t>fpdf2</a:t>
            </a:r>
            <a:r>
              <a:rPr lang="en-US" sz="1700"/>
              <a:t> engine </a:t>
            </a:r>
            <a:r>
              <a:rPr lang="en-US" sz="1700" i="1"/>
              <a:t>(StudyPlanPDF) </a:t>
            </a:r>
            <a:r>
              <a:rPr lang="en-US" sz="1700"/>
              <a:t>to render downloadable multi-page study roadmaps.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13755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7F854-97E4-6EAD-3750-616F5133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47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726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SmartStudy AI: KDU Academic Advisory System for BIT Undergraduates</vt:lpstr>
      <vt:lpstr>Team Members</vt:lpstr>
      <vt:lpstr>Contents</vt:lpstr>
      <vt:lpstr>Introduction</vt:lpstr>
      <vt:lpstr>Problem Statement</vt:lpstr>
      <vt:lpstr>Problem Statement</vt:lpstr>
      <vt:lpstr>Technologies</vt:lpstr>
      <vt:lpstr>AI Techniques</vt:lpstr>
      <vt:lpstr>Core Tasks Completed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Oscar</dc:creator>
  <cp:lastModifiedBy>Ross Oscar</cp:lastModifiedBy>
  <cp:revision>2</cp:revision>
  <dcterms:created xsi:type="dcterms:W3CDTF">2026-10-06T05:49:10Z</dcterms:created>
  <dcterms:modified xsi:type="dcterms:W3CDTF">2026-10-17T17:14:30Z</dcterms:modified>
</cp:coreProperties>
</file>